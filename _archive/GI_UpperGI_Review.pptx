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SUPPLEMENTAL INSTRUCTOR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9: </a:t>
            </a:r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Upper GI</a:t>
            </a:r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Pathophysiology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1 — From the mouth to the duodenum. Gates, shields, acid, and what goes wrong.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Lindsay Wilson &amp; Claude Code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Upper GI </a:t>
            </a:r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Anatomy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highway from pharynx to duodenum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ANATOMY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Upper GI </a:t>
            </a:r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Highway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1298448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45920"/>
            <a:ext cx="12984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Pharynx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Throat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84248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304288" y="1645920"/>
            <a:ext cx="1298448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04288" y="1645920"/>
            <a:ext cx="12984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Epiglottis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Traffic cop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02736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922776" y="1645920"/>
            <a:ext cx="1298448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22776" y="1645920"/>
            <a:ext cx="12984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Esophagus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Transport tube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21224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541264" y="1645920"/>
            <a:ext cx="1298448" cy="1097280"/>
          </a:xfrm>
          <a:prstGeom prst="roundRect">
            <a:avLst>
              <a:gd name="adj" fmla="val 8333"/>
            </a:avLst>
          </a:prstGeom>
          <a:solidFill>
            <a:srgbClr val="1A33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41264" y="1645920"/>
            <a:ext cx="12984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39712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159752" y="1645920"/>
            <a:ext cx="1298448" cy="1097280"/>
          </a:xfrm>
          <a:prstGeom prst="roundRect">
            <a:avLst>
              <a:gd name="adj" fmla="val 8333"/>
            </a:avLst>
          </a:prstGeom>
          <a:solidFill>
            <a:srgbClr val="2A2A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59752" y="1645920"/>
            <a:ext cx="12984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Stomach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LUQ, makes HCl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ANATOMY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Past the Stomach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2A2A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4592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Stomach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63240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383280" y="164592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1A33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64592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Pyloric Sphincter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Exit gate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0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080760" y="164592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164592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Duodenum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of small intestine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0" y="3108960"/>
            <a:ext cx="64008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1371600" y="3108960"/>
            <a:ext cx="36576" cy="6400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310896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sphincters to know: LES (stomach entrance), Pyloric (stomach exit), Ileocecal valve (small → large intestine)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1188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PEARL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926080" y="1161288"/>
            <a:ext cx="3291840" cy="457200"/>
          </a:xfrm>
          <a:prstGeom prst="roundRect">
            <a:avLst>
              <a:gd name="adj" fmla="val 40000"/>
            </a:avLst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0" y="11612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PEARL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Can't speak? 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Can't swallow.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pharynx controls both speech and swallowing. If a patient can't vocalize, assume aspiration risk and hold oral intake.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sphincter acts as the "gate" between the esophagus and stomach?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A3A2A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A. Lower Esophageal Sphincter (LES)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7744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B. Pyloric Sphincter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1752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C. Ileocecal Valve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5760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D. Upper Esophageal Sphincter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77724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297680"/>
            <a:ext cx="36576" cy="6400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9768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LES is the gate at the bottom of the esophagus. When it fails, acid goes UP (GERD).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Vomiting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Protective reflex, warning signs, and what the colors mean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1188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CONCEPT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926080" y="1161288"/>
            <a:ext cx="3291840" cy="457200"/>
          </a:xfrm>
          <a:prstGeom prst="roundRect">
            <a:avLst>
              <a:gd name="adj" fmla="val 40000"/>
            </a:avLst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0" y="11612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CONCEPT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Vomiting = 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Reverse Peristalsis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It's a protective reflex. The GI tract shifts into reverse to expel something harmful.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1188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 FLAG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926080" y="1161288"/>
            <a:ext cx="3291840" cy="457200"/>
          </a:xfrm>
          <a:prstGeom prst="roundRect">
            <a:avLst>
              <a:gd name="adj" fmla="val 40000"/>
            </a:avLst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0" y="11612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 FLAG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Projectile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vomiting = 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Neuro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problem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Projectile vomiting is NOT a GI origin — think increased intracranial pressure (ICP). This is a neuro red flag, not a stomach issue.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VOMITING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Prolonged Vomiting →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Metabolic Alkalosis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You're losing HCl (acid) + potassium (K+) with every episode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 acid in the body = alkalosis — the blood becomes too basic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K+ (hypokalemia) can cause cardiac dysrhythmias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77724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931920"/>
            <a:ext cx="36576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93192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Aspiration concern: Unresponsive patients who vomit cannot protect their airway. Position on side (recovery position) to prevent aspiration pneumonia.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VOMITING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Color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Tells You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Bright Red — Active bleed, EMERGENCY. Fresh blood from upper GI.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Coffee Grounds — Slow or old bleed. Blood digested by stomach acid = hematemesis.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Yellow / Green — Bile. Deep vomiting, contents pulled from duodenum.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Dark Brown / Fecal — Think bowel obstruction. Contents backing up from below.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Undigested Food — Gastroparesis. Stomach not emptying. Common in diabetic patients.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patient has been vomiting for 3 days. Which acid-base imbalance do you expect?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A. Metabolic acidosis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A3A2A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7744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B. Metabolic alkalosis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1752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C. Respiratory acidosis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5760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D. Respiratory alkalosis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77724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297680"/>
            <a:ext cx="36576" cy="6400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9768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Prolonged vomiting depletes HCl and K+. Losing acid shifts the body toward alkalosis (too basic).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the gate fails and acid goes UP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1188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CONCEPT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926080" y="1161288"/>
            <a:ext cx="3291840" cy="457200"/>
          </a:xfrm>
          <a:prstGeom prst="roundRect">
            <a:avLst>
              <a:gd name="adj" fmla="val 40000"/>
            </a:avLst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0" y="11612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CONCEPT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(LES) fails. Acid goes 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esophagus was never designed for acid. When the LES relaxes inappropriately, gastric acid refluxes upward and burns the esophageal lining.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Classic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Symptoms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Heartburn (substernal burning) — worse lying down, after meals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Regurgitation — acid taste in the back of the throat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Adult-onset asthma / chronic cough — silent nighttime aspiration of acid into airways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Dysphagia — difficulty swallowing from esophageal irritation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77724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931920"/>
            <a:ext cx="36576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93192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mimic angina! Substernal burning can look like a heart attack. Always rule out cardiac causes first.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Factors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Obesity — increases abdominal pressure</a:t>
            </a:r>
            <a:endParaRPr lang="en-US" sz="12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Pregnancy — same mechanism</a:t>
            </a:r>
            <a:endParaRPr lang="en-US" sz="12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Hiatal hernia — stomach pushes up through diaphragm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63440" y="141732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Diet triggers: chocolate, caffeine, carbonation, spicy/fatty foods, citrus, alcohol</a:t>
            </a:r>
            <a:endParaRPr lang="en-US" sz="12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Substances: nicotine, steroids</a:t>
            </a:r>
            <a:endParaRPr lang="en-US" sz="12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Meds: BP meds, anticholinergics, NG tubes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1188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PEARL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926080" y="1161288"/>
            <a:ext cx="3291840" cy="457200"/>
          </a:xfrm>
          <a:prstGeom prst="roundRect">
            <a:avLst>
              <a:gd name="adj" fmla="val 40000"/>
            </a:avLst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0" y="11612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PEARL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3–4 hours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mouth to pylorus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That's how long food takes to clear the stomach. Don't lie down before then — gravity is your friend against reflux.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patient with GERD develops a chronic cough at night. What is the likely mechanism?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A. Allergic response to stomach acid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A3A2A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7744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B. Silent nighttime aspiration of acid into the airways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1752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C. Vagus nerve stimulation from esophageal distension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5760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D. Anxiety-related hyperventilation from discomfort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77724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297680"/>
            <a:ext cx="36576" cy="6400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9768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lying flat, acid refluxes up and can silently aspirate into the lungs/airways, causing chronic cough or adult-onset asthma.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Treatment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PPIs — suppress acid production. Take before meals.</a:t>
            </a:r>
            <a:endParaRPr lang="en-US" sz="12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H2 blockers — reduce acid (less potent than PPIs)</a:t>
            </a:r>
            <a:endParaRPr lang="en-US" sz="12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Antacids (TUMS) — neutralize existing acid (quick relief)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63440" y="141732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Elevate HOB — let gravity help</a:t>
            </a:r>
            <a:endParaRPr lang="en-US" sz="12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Small, frequent meals — no eating 3–4 hrs before bed</a:t>
            </a:r>
            <a:endParaRPr lang="en-US" sz="12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Avoid triggers — weight loss if applicable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931920"/>
            <a:ext cx="77724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931920"/>
            <a:ext cx="36576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93192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 for: Long-term acid suppression (PPIs) can impair B12 absorption. Monitor for deficiency symptoms.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Complications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Esophageal narrowing (stricture) — chronic inflammation leads to scarring → dysphagia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Barrett's esophagus — cell changes from chronic acid exposure (precancerous)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Esophageal cancer — serious, difficult to treat, poor prognosis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1188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CONCEPT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926080" y="1161288"/>
            <a:ext cx="3291840" cy="457200"/>
          </a:xfrm>
          <a:prstGeom prst="roundRect">
            <a:avLst>
              <a:gd name="adj" fmla="val 40000"/>
            </a:avLst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0" y="11612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CONCEPT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Barrett's = 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B9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Adaptation,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NOT healing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Chronic GERD causes metaplasia: the esophagus swaps its normal squamous cells for columnar cells (like the stomach). It's trying to survive the acid — but this change is precancerous.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BARRETT'S ESOPHAGUS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Barrett's Pathway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1703070" cy="1097280"/>
          </a:xfrm>
          <a:prstGeom prst="roundRect">
            <a:avLst>
              <a:gd name="adj" fmla="val 8333"/>
            </a:avLst>
          </a:prstGeom>
          <a:solidFill>
            <a:srgbClr val="1A33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45920"/>
            <a:ext cx="170307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Chronic GERD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88870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08910" y="1645920"/>
            <a:ext cx="1703070" cy="1097280"/>
          </a:xfrm>
          <a:prstGeom prst="roundRect">
            <a:avLst>
              <a:gd name="adj" fmla="val 8333"/>
            </a:avLst>
          </a:prstGeom>
          <a:solidFill>
            <a:srgbClr val="2A2A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08910" y="1645920"/>
            <a:ext cx="170307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Metaplasia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Squamous → columnar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11980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732020" y="1645920"/>
            <a:ext cx="1703070" cy="1097280"/>
          </a:xfrm>
          <a:prstGeom prst="roundRect">
            <a:avLst>
              <a:gd name="adj" fmla="val 8333"/>
            </a:avLst>
          </a:prstGeom>
          <a:solidFill>
            <a:srgbClr val="2A1A3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2020" y="1645920"/>
            <a:ext cx="170307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Barrett's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Precancerous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35090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755130" y="1645920"/>
            <a:ext cx="1703070" cy="1097280"/>
          </a:xfrm>
          <a:prstGeom prst="roundRect">
            <a:avLst>
              <a:gd name="adj" fmla="val 8333"/>
            </a:avLst>
          </a:prstGeom>
          <a:solidFill>
            <a:srgbClr val="3A1A1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55130" y="1645920"/>
            <a:ext cx="170307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Esophageal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Adenocarcinoma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0" y="3108960"/>
            <a:ext cx="64008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1371600" y="3108960"/>
            <a:ext cx="36576" cy="6400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1554480" y="310896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Nursing action: Barrett's patients need surveillance endoscopy to monitor for progression to cancer.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biopsy from a chronic GERD patient shows columnar cells in the esophagus. This is: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A. Normal healing from acid damage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A3A2A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7744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B. Barrett's esophagus — precancerous metaplasia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1752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C. Esophageal cancer already present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5760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D. An incidental finding with no clinical significance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77724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297680"/>
            <a:ext cx="36576" cy="6400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9768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Squamous → columnar metaplasia is Barrett's. It increases risk of esophageal adenocarcinoma and requires surveillance endoscopy.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Peptic Ulcer </a:t>
            </a:r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Disease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the shield fails and acid goes DOWN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1188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CONCEPT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926080" y="1161288"/>
            <a:ext cx="3291840" cy="457200"/>
          </a:xfrm>
          <a:prstGeom prst="roundRect">
            <a:avLst>
              <a:gd name="adj" fmla="val 40000"/>
            </a:avLst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0" y="11612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CONCEPT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Shield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(mucosa) fails. Acid goes 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mucosal lining protects the stomach wall from its own acid. When that shield breaks down, acid erodes downward into the tissue — creating an ulcer.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1188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926080" y="1161288"/>
            <a:ext cx="3291840" cy="457200"/>
          </a:xfrm>
          <a:prstGeom prst="roundRect">
            <a:avLst>
              <a:gd name="adj" fmla="val 40000"/>
            </a:avLst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0" y="11612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acid. 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Different direction.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GERD = gate fails, acid goes UP into esophagus. PUD = shield fails, acid goes DOWN into stomach wall. Know which defense broke.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3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Causes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H. pylori (#1 cause) — communicable bacterium (oral-oral / fecal-oral). Produces urease → ammonia → destroys the mucosal shield.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NSAIDs (#2 cause) — block COX-1 enzyme → no prostaglandins → mucosal shield thins. Think chronic ibuprofen/naproxen use.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Stress ulcers — critically ill patients, can develop within 24 hrs. Cushing's (brain injury) and Curling's (burn injury) ulcers.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Additional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Factors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Male sex — higher incidence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Older age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Alcohol — irritates mucosa directly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Smoking — impairs mucosal blood flow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Steroids — weaken mucosal defense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Treatment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H. pylori → Triple therapy: PPI + 2 antibiotics. Must complete full course.</a:t>
            </a:r>
            <a:endParaRPr lang="en-US" sz="12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NSAID-caused → Stop the NSAID. If needed, add a PPI for protection.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63440" y="141732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Diagnosis: EGD (endoscopy) + H. pylori testing</a:t>
            </a:r>
            <a:endParaRPr lang="en-US" sz="12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H. pylori tests: Breath test (urea) or stool antigen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patient takes ibuprofen 800mg TID for 18 months. What is the mechanism of ulcer formation?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A. Ibuprofen directly burns the stomach lining with acid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7744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B. Ibuprofen increases HCl production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A3A2A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1752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C. NSAIDs block COX-1, reducing prostaglandins that maintain the mucosal shield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5760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D. Ibuprofen introduces H. pylori into the stomach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77724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297680"/>
            <a:ext cx="36576" cy="6400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9768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NSAIDs inhibit COX-1 → decreased prostaglandins → thinner mucosal shield → normal acid erodes the unprotected wall.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Complications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Ulcers </a:t>
            </a:r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Worse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Bleeding, perforation, and peritonitis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PUD COMPLICATIONS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the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Blood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Anatomically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▲ STOMACH (Origin): Hematemesis — bright red = active bleed; Coffee grounds = old/slow bleed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 INTESTINES (Transit): Melena — black, tarry, foul-smelling stool. Blood digested during transit.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⬤ RECTUM (Exit): Hematochezia — bright red rectal bleeding. Massive upper bleed OR lower GI source.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1188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EMERGENCY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926080" y="1161288"/>
            <a:ext cx="3291840" cy="457200"/>
          </a:xfrm>
          <a:prstGeom prst="roundRect">
            <a:avLst>
              <a:gd name="adj" fmla="val 40000"/>
            </a:avLst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0" y="11612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EMERGENCY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Perforation = 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Surgical Emergency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the ulcer erodes through ALL layers of the stomach wall, acid and bacteria spill into the sterile peritoneal cavity → peritonitis.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PUD COMPLICATIONS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Signs of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Peritonitis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Rigid, board-like abdomen — involuntary guarding, rock-hard on palpation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Rebound tenderness — pain worsens when you release pressure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Fever — infection in the peritoneal cavity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Tachycardia — the body is in crisis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77724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931920"/>
            <a:ext cx="36576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93192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a surgical emergency. Acid + bacteria in a sterile space = rapid sepsis. Do not delay.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PUD COMPLICATIONS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Erosion Pathway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1298448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45920"/>
            <a:ext cx="12984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Ulcer forming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84248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304288" y="1645920"/>
            <a:ext cx="1298448" cy="1097280"/>
          </a:xfrm>
          <a:prstGeom prst="roundRect">
            <a:avLst>
              <a:gd name="adj" fmla="val 8333"/>
            </a:avLst>
          </a:prstGeom>
          <a:solidFill>
            <a:srgbClr val="2A2A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04288" y="1645920"/>
            <a:ext cx="12984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Bleeding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Hematemesis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02736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922776" y="1645920"/>
            <a:ext cx="1298448" cy="1097280"/>
          </a:xfrm>
          <a:prstGeom prst="roundRect">
            <a:avLst>
              <a:gd name="adj" fmla="val 8333"/>
            </a:avLst>
          </a:prstGeom>
          <a:solidFill>
            <a:srgbClr val="3A1A1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22776" y="1645920"/>
            <a:ext cx="12984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Perforation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Through all layers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21224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541264" y="1645920"/>
            <a:ext cx="1298448" cy="1097280"/>
          </a:xfrm>
          <a:prstGeom prst="roundRect">
            <a:avLst>
              <a:gd name="adj" fmla="val 8333"/>
            </a:avLst>
          </a:prstGeom>
          <a:solidFill>
            <a:srgbClr val="3A1A1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41264" y="1645920"/>
            <a:ext cx="12984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Peritonitis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Surgical emergency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39712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159752" y="1645920"/>
            <a:ext cx="1298448" cy="1097280"/>
          </a:xfrm>
          <a:prstGeom prst="roundRect">
            <a:avLst>
              <a:gd name="adj" fmla="val 8333"/>
            </a:avLst>
          </a:prstGeom>
          <a:solidFill>
            <a:srgbClr val="2A0A0A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59752" y="1645920"/>
            <a:ext cx="12984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Death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untreated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patient with PUD suddenly develops a rigid, board-like abdomen with rebound tenderness and fever. What happened?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A. The ulcer is bleeding more heavily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7744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B. The patient is having a GERD flare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A3A2A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1752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C. Perforation → peritonitis (surgical emergency)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5760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D. Bowel obstruction from scar tissue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77724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297680"/>
            <a:ext cx="36576" cy="6400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9768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Rigid abdomen + rebound tenderness + fever = peritonitis from perforation. Surgical emergency.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GERD</a:t>
            </a:r>
            <a:pPr algn="ctr"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vs </a:t>
            </a:r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GERD — Gate Fails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Direction: Acid goes UP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Defense broken: LES (gate)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symptom: Heartburn (substernal)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Complication: Barrett's → cancer risk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280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PUD — Shield Fails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82880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Direction: Acid goes DOWN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Defense broken: Mucosal lining (shield)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symptom: Epigastric pain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Complication: Bleeding → perforation → peritonitis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Application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</a:t>
            </a:r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Studies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Put it all together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CASE 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77724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85800"/>
            <a:ext cx="7406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Maria, 54 years old. History of chronic GERD, obese, smoker. She's been on PPIs for years but hasn't changed her lifestyle. An EGD with biopsy shows columnar cells in the esophagus.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does this biopsy result mean?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8600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A. Her GERD has resolved and the esophagus healed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1A3A2A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83464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B. Barrett's esophagus — precancerous change requiring surveillance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38328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C. Esophageal cancer — needs immediate surgery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93192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D. Normal age-related change in the esophagus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777240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343400"/>
            <a:ext cx="36576" cy="5943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343400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Chronic acid exposure caused metaplasia (squamous → columnar). This is Barrett's — an adaptation, NOT healing. Precancerous.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CASE 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77724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85800"/>
            <a:ext cx="7406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James, 62 years old. Has been taking ibuprofen 800mg TID for 18 months for chronic knee pain. He presents to the ED with coffee-ground emesis.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What's happening right now?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8600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A. Acute GERD exacerbation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1A3A2A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83464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B. Peptic ulcer bleeding (NSAID-induced) with hematemesis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38328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C. Food poisoning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93192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D. Barrett's esophagus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777240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343400"/>
            <a:ext cx="36576" cy="5943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343400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months of high-dose ibuprofen blocked COX-1 → depleted prostaglandins → thinned mucosal shield. Coffee grounds = digested blood.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CASE 2 (CONTINUED)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77724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85800"/>
            <a:ext cx="7406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hours later, James develops a sudden rigid, board-like abdomen with rebound tenderness and a fever of 102.4°F. Heart rate is 118 bpm.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complication has occurred? What is the priority?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8600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A. The ulcer is bleeding more — increase IV fluids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83464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B. Bowel obstruction — insert NG tube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1A3A2A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38328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C. Perforation → peritonitis — surgical emergency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93192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D. Pancreatitis — check lipase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777240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343400"/>
            <a:ext cx="36576" cy="5943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343400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Bleeding ulcer eroded through ALL layers (perforation). Acid + bacteria leaked into peritoneal cavity = peritonitis. SURGICAL EMERGENCY.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SYNTHESIS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Patient A has substernal burning worse when lying down. Patient B has epigastric pain that improves with eating. Match them.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A3A2A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A. Patient A = GERD, Patient B = PUD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7744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B. Patient A = PUD, Patient B = GERD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1752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C. Both patients have GERD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5760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D. Both patients have PUD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77724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297680"/>
            <a:ext cx="36576" cy="6400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9768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Substernal burning worse lying down = GERD (acid UP). Epigastric pain improved by eating = PUD (food buffers acid on exposed ulcer).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Big Picture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1A33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(Gate) Fails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377440" y="14630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8BDF8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834640" y="146304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14630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80560" y="14630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8BDF8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37760" y="146304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2A2A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4630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Barrett's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0" y="14630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8BDF8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040880" y="146304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3A1A1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14630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Cancer Risk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46888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1A33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4688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Shield (Mucosa) Fails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77440" y="24688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8BDF8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834640" y="246888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0" y="24688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80560" y="24688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8BDF8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37760" y="246888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2A2A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4688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Bleeding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0" y="24688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8BDF8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040880" y="246888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3A1A1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24688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Perforation → Peritonitis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371600" y="3474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acid. Know which defense broke.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 OF SECTION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9: </a:t>
            </a:r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Upper GI</a:t>
            </a:r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Review Complete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 fails → acid UP → GERD → Barrett's. Shield fails → acid DOWN → PUD → perforation. You've got this.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Lindsay Wilson &amp; Claude Code | Supplemental Instructor Review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9: Upper GI Pathophysiology Review</dc:title>
  <dc:subject>PptxGenJS Presentation</dc:subject>
  <dc:creator>Lindsay Wilson &amp; Claude Code</dc:creator>
  <cp:lastModifiedBy>Lindsay Wilson &amp; Claude Code</cp:lastModifiedBy>
  <cp:revision>1</cp:revision>
  <dcterms:created xsi:type="dcterms:W3CDTF">2026-04-15T18:25:04Z</dcterms:created>
  <dcterms:modified xsi:type="dcterms:W3CDTF">2026-04-15T18:25:04Z</dcterms:modified>
</cp:coreProperties>
</file>