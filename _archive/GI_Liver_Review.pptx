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9 — SUPPLEMENTAL INSTRUCTOR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 Pathophysiology </a:t>
            </a:r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Hepatobiliary System • Hepatitis • Cirrhosis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Lindsay Wilson &amp;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Hepatobiliary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liver, bile, gallbladder &amp; pancreas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HEPATOBILIARY SYSTEM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HEPATOBILIARY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liver does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Largest internal organ. Highly vascular. CAN regenerate.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dual blood supply: hepatic artery (O₂) + portal vein (nutrients from GI).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FUNCTIONS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Liver Does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Detoxifies: metabolizes drugs, toxins, alcohol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Synthesizes: albumin, clotting factors, glucose, proteins, cholesterol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 glycogen, fats, nutrients — releases when needed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bile → emulsifies fat for absorption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the liver as a factory, warehouse, and recycling center all in 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FUNCTIONS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Liver Does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ammonia (NH₃) → urea for kidney excretion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Breaks down hormones (estrogen, testosterone)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old RBCs — recycles iron &amp; proteins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blood volume via albumin (oncotic pressure holds fluid in vessels)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LIVER FAILS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Each Failure to Its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clear drugs → TOXICITY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make albumin → EDEMA, ASCITES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make clotting factors → BLEEDING, BRUISING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clear bilirubin → JAUNDICE, PRURITUS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convert ammonia → HEPATIC ENCEPHALOPATHY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break down estrogen → males: GYNECOMASTIA, HAIR LOSS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patient has low albumin levels. What symptom would you expect?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Jaundice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Edema / ascites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Hepatic encephalopathy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Gynecomastia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Albumin maintains oncotic pressure — it holds fluid inside blood vessels. Low albumin = fluid leaks out = edema &amp; ascites.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BILE &amp; GALLBLADDER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Bile: Made by Liver, Stored in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Gallbladder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Bile released into duodenum when fat is present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Emulsifies fat → allows absorption of fat + fat-soluble vitamins A, D, E, K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bile = steatorrhea (floating, greasy, foul stool) + ADEK deficiency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Vitamin K deficiency = no clotting (most dangerous)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gallbladder? Bile still flows continuously — but patient can't handle large fatty meals.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BILE &amp; GALLBLADDER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Gallbladder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Pearls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Gallbladder sits under the liver — NOT normally palpable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Gallbladder pain is referred pain between the shoulders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Ducts from gallbladder + pancreas enter duodenum side by side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Gallstones → block bile duct → inflame pancreatic duct → enzymes auto-digest pancreas → PANCREATITIS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PANCREAS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Exocrine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Pancreas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Digestive enzymes — break down carbs, proteins, fats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Bicarbonate (HCO₃⁻) — neutralizes acidic chyme from stomach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Gallstones can block the shared duct → pancreatic enzymes activate inside the pancreas → auto-digestion = pancreatitis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 PEARL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Newborns &amp;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Vitamin 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Newborn gut is sterile — no bacteria to make Vitamin K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Vit K, minor injury = MAJOR bleed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 K injection at birth — standard of care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~3 months for gut bacteria to colonize and produce Vit K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gallstone blocks the bile duct. Which vitamin deficiency is the MOST dangerous?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Vitamin A — vision problems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Vitamin D — bone weakness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Vitamin E — nerve damage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D. Vitamin K — bleeding/no clotting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bile = no fat absorption = no ADEK. Vitamin K is the most immediately dangerous because it's needed for clotting factors.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Inflammation of the liver — viral &amp; non-viral causes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destroys liver cells.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Necrosis → scarring → cirrhosis → cancer.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endpoint is always the same. The cause determines the timeline.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 Types: </a:t>
            </a:r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Vowels</a:t>
            </a:r>
            <a:pPr algn="ctr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vs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Consonants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Vowels: A &amp; 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Oral-fecal route (contaminated food/water)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Self-limiting — no chronic form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 A: vaccine (2-dose)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 E: no vaccine, rare in 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Consonants: B, C, 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&amp; body fluids (HCW at greater risk)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 B: vaccine (3-dose), CAN become chronic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 C: NO vaccine, most likely → chronic → cirrhosis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 D: only co-infects with B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Course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Prodromal: fatigue, anorexia, nausea, RUQ discomfort (may be asymptomatic)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Icteric: jaundice, dark urine, clay-colored stools, pruritus, elevated AST/ALT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Recovery: weeks to months. A &amp; E resolve. B &amp; C may become chronic.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Elevated AST/ALT = liver cell damage. Elevated bilirubin = liver can't do its job.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Non-Viral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Hepatitis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Alcohol — most common non-viral cause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Tylenol (acetaminophen) — toxic to liver in high doses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Seizure meds, antibiotics — drug-induced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Autoimmune hepatitis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Non-viral hepatitis is NOT contagious — but the liver damage is the same.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HEPATITIS TREATMENT &amp; PREVENTION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It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Vaccines: Hep A (2-dose) and Hep B (3-dose)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Hygiene/sanitation for A &amp; 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Universal precautions, safe sex, sterile needles for B, C, D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Supportive care — rest, hydration, nutrition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Tylenol. No alcohol.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traveler returns from Central America with jaundice, fatigue, and dark urine. No IV drug history. Most likely?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A. Hepatitis A — oral-fecal, travel exposure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Hepatitis B — blood/body fluid transmission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C. Hepatitis C — blood transmission, no vaccine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Hepatitis D — co-infection with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 + contaminated food/water + no IV drug history = oral-fecal route = Hep A (vowel!). Self-limiting, vaccine-preventable.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liver can't recover — irreversible failure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 PATHOPHYSIOLOGY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 Pathway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hepatitis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alcohol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04288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inflammation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02736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22776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2A2A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2776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Irreversible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fibrosis + scarring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21224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41264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shrinks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hardens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6459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59752" y="1645920"/>
            <a:ext cx="1298448" cy="1097280"/>
          </a:xfrm>
          <a:prstGeom prst="roundRect">
            <a:avLst>
              <a:gd name="adj" fmla="val 8333"/>
            </a:avLst>
          </a:prstGeom>
          <a:solidFill>
            <a:srgbClr val="3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64592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functions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3108960"/>
            <a:ext cx="3657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31089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 is IRREVERSIBLE. The only cure is liver transplant.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 =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simultaneous failures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Bilirubin rises. Albumin drops. Ammonia accumulates.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these three and you can explain every cirrhosis symptom.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COLLAPSE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Bilirubin: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Can't Conjugate or Excrete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Jaundice — yellow skin and sclera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Pruritus — bile salts deposit in skin (intense itching)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urine — excess bilirubin excreted by kidneys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Clay-colored stools — no bilirubin reaches the gut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COLLAPSE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Albumin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Portal Hypertension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albumin = low oncotic pressure → fluid leaks out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Fibrosis blocks portal vein → portal hypertension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Ascites — fluid fills abdomen (can push diaphragm → shallow breathing)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Varices — esophageal varices, hemorrhoids (blood reroutes around liver)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Peripheral edema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389120"/>
            <a:ext cx="36576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Esophageal varices can RUPTURE — life-threatening GI bleed.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COLLAPSE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Ammonia: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Can't Convert NH₃ → Urea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Ammonia accumulates in blood → crosses blood-brain barrier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Hepatic encephalopathy: confusion → lethargy → unresponsive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Asterixis — "flapping tremor" of the hands (classic sign)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7724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for asterixis: ask patient to extend arms &amp; dorsiflex wrists. Watch for involuntary flapping.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Cirrhosis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Hormone breakdown fails → males: gynecomastia, hair loss; females: masculine features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Clotting fails → bruising, bleeding, elevated INR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Dilated abdominal veins (caput medusae)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blood sugar — liver can't release stored glucose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drug clearance — medications build up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CIRRHOSIS TREATMENT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Nursing Priorities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Encephalopathy: lactulose (traps NH₃ in gut), limit protein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Ascites: diuretics, sodium restriction, paracentesis (drain fluid)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Varices: monitor for bleeding (can be fatal)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Tylenol. No alcohol. Ever.</a:t>
            </a:r>
            <a:endParaRPr lang="en-US" sz="13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transplant is the only cure (liver CAN regenerate — living donor possible)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cirrhosis patient has confusion and asterixis. Which liver failure is responsible?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A. ↑ Bilirubin — can't conjugate/excrete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B. ↓ Albumin — low oncotic pressure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A3A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↑ Ammonia — can't convert NH₃ to urea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777240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D. ↓ Clotting factors — bleeding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7724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97680"/>
            <a:ext cx="36576" cy="6400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Confusion + asterixis = hepatic encephalopathy. Ammonia crosses the blood-brain barrier. Treat with lactulose.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CASE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Robert, 58 y/o male. History of chronic Hep C. Presents with distended abdomen, yellow sclera, confusion, and easy bruising. Labs: low albumin, high bilirubin, high ammonia, elevated INR.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each finding to the failed liver job.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Distended abdomen (ascites) → low albumin + portal HTN (fluid leaks out)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Yellow sclera (jaundice) → high bilirubin (can't conjugate/excrete)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Confusion → high ammonia (crosses BBB → encephalopathy)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bruising + elevated INR → can't make clotting factors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albumin → liver can't synthesize proteins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7724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297680"/>
            <a:ext cx="36576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symptom maps to a specific liver job that failed. This is the framework — learn the jobs, and you can explain any cirrhosis presentation.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926080" y="1161288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161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Big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liver does everything. When it fails, map each symptom to the specific job.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Hepatitis: vowels (A, E) = oral-fecal. Consonants (B, C, D) = blood &amp; body fluids.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Cirrhosis = three collapses: ↑ bilirubin, ↓ albumin/portal HTN, ↑ ammonia.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Pathophysiology Review — Section 2: Hepatobiliary, Hepatitis, Cirrhosis</dc:title>
  <dc:subject>PptxGenJS Presentation</dc:subject>
  <dc:creator>Lindsay Wilson &amp; Claude Code</dc:creator>
  <cp:lastModifiedBy>Lindsay Wilson &amp; Claude Code</cp:lastModifiedBy>
  <cp:revision>1</cp:revision>
  <dcterms:created xsi:type="dcterms:W3CDTF">2026-04-15T18:25:04Z</dcterms:created>
  <dcterms:modified xsi:type="dcterms:W3CDTF">2026-04-15T18:25:04Z</dcterms:modified>
</cp:coreProperties>
</file>